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1371600"/>
            <a:ext cx="1280160" cy="1280160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41587" y="1909267"/>
            <a:ext cx="204825" cy="204825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2286000"/>
            <a:ext cx="914400" cy="914400"/>
          </a:xfrm>
          <a:prstGeom prst="ellipse">
            <a:avLst/>
          </a:prstGeom>
          <a:noFill/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68128" y="2670048"/>
            <a:ext cx="146304" cy="14630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0" y="3291840"/>
            <a:ext cx="731520" cy="731520"/>
          </a:xfrm>
          <a:prstGeom prst="ellipse">
            <a:avLst/>
          </a:prstGeom>
          <a:noFill/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53958" y="3599078"/>
            <a:ext cx="117043" cy="117043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3749039"/>
            <a:ext cx="548640" cy="548640"/>
          </a:xfrm>
          <a:prstGeom prst="ellipse">
            <a:avLst/>
          </a:prstGeom>
          <a:noFill/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46028" y="3979468"/>
            <a:ext cx="87782" cy="87782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777240"/>
            <a:ext cx="6675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00AAA0"/>
                </a:solidFill>
                <a:latin typeface="Aptos"/>
              </a:defRPr>
            </a:pPr>
            <a:r>
              <a:t>9. SINIF • FİZİK DERSİ PROJESİ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69494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4800" b="1">
                <a:solidFill>
                  <a:srgbClr val="F5F8FC"/>
                </a:solidFill>
                <a:latin typeface="Aptos"/>
              </a:defRPr>
            </a:pPr>
            <a:r>
              <a:t>TENMAK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CFDCEB"/>
                </a:solidFill>
                <a:latin typeface="Aptos"/>
              </a:defRPr>
            </a:pPr>
            <a:r>
              <a:t>Türkiye Enerji, Nükleer ve Maden Araştırma Kurumu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6675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4DCFE1"/>
                </a:solidFill>
                <a:latin typeface="Aptos"/>
              </a:defRPr>
            </a:pPr>
            <a:r>
              <a:t>Enerji • Nükleer teknoloji • Bor • Nadir toprak elementleri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9160"/>
            <a:ext cx="5303520" cy="685800"/>
          </a:xfrm>
          <a:prstGeom prst="roundRect">
            <a:avLst/>
          </a:prstGeom>
          <a:solidFill>
            <a:srgbClr val="18304D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828032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Hazırlayan: ____________________</a:t>
            </a:r>
            <a:br/>
            <a:r>
              <a:t>Sınıf / No: ____________________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9784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94ABC2"/>
                </a:solidFill>
                <a:latin typeface="Aptos"/>
              </a:defRPr>
            </a:pPr>
            <a:r>
              <a:t>BİLİMİ TEKNOLOJİYE, TEKNOLOJİYİ TOPLUMSAL FAYDAYA DÖNÜŞTÜRMEK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01 • GIRIŞ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TENMAK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Türkiye'nin enerji, nükleer teknoloji ve stratejik madenler alanındaki araştırma ve geliştirme kurumu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23317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64008" cy="233172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03704"/>
            <a:ext cx="3108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Kamu araştırma kurumu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3081528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Bilimsel araştırmaları destekler; yeni ürün, yöntem ve teknolojilerin geliştirilmesine katkı verir.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23317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64008" cy="23317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03704"/>
            <a:ext cx="31089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Birden çok uzmanlık alanı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24328"/>
            <a:ext cx="3081528" cy="1645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Enerji sistemleri, nükleer uygulamalar, bor, nadir toprak elementleri ve temiz enerji konularını bir araya getirir.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063240" cy="29260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72880" y="2823667"/>
            <a:ext cx="1776679" cy="702259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3300000">
            <a:off x="8872880" y="2823667"/>
            <a:ext cx="1776679" cy="702259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6900000">
            <a:off x="8872880" y="2823667"/>
            <a:ext cx="1776679" cy="702259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51492" y="3065068"/>
            <a:ext cx="219456" cy="219456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87968" y="2621584"/>
            <a:ext cx="100584" cy="100584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88168" y="3599992"/>
            <a:ext cx="100584" cy="10058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88168" y="2685592"/>
            <a:ext cx="100584" cy="100584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315968"/>
            <a:ext cx="2697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Bilimden uygulamaya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92040"/>
            <a:ext cx="103327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TENMAK yalnızca enerji üretimini değil; ölçüm, malzeme, güvenlik, sağlık ve sanayi gibi alanlarda kullanılan teknolojileri de araştırır.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02 • TARIHÇE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Kuruluş süreci: farklı birikimlerin birleşmesi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TENMAK, Türkiye'de uzun yıllar içinde oluşan araştırma altyapısını daha bütünlüklü bir yapıda toplamak amacıyla kuruldu.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252728" y="2423160"/>
            <a:ext cx="411480" cy="411480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1956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017520"/>
            <a:ext cx="1737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Atom Enerjisi</a:t>
            </a:r>
            <a:br/>
            <a:r>
              <a:t>Komisyonu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7" y="2587752"/>
            <a:ext cx="1371600" cy="36576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423160"/>
            <a:ext cx="411480" cy="411480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87451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1982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017520"/>
            <a:ext cx="1737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TAEK dönemi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587752"/>
            <a:ext cx="1371600" cy="36576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88152" y="2423160"/>
            <a:ext cx="411480" cy="411480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187451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3017520"/>
            <a:ext cx="1737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BOREN kuruldu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1" y="2587752"/>
            <a:ext cx="1371600" cy="36576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55863" y="2423160"/>
            <a:ext cx="411480" cy="411480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5" y="187451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2018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3017520"/>
            <a:ext cx="1737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NADEN yapılanması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2587752"/>
            <a:ext cx="1371600" cy="36576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23576" y="2423160"/>
            <a:ext cx="411480" cy="411480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874519"/>
            <a:ext cx="1371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5F8FC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3017520"/>
            <a:ext cx="1737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TENMAK kuruldu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251960"/>
            <a:ext cx="10241280" cy="11887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251960"/>
            <a:ext cx="64008" cy="11887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398264"/>
            <a:ext cx="99212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Birleşmenin mantığı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18888"/>
            <a:ext cx="9893807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t>Enerji ve maden teknolojileri alanındaki araştırmaları koordine etmek, kaynakları daha etkili kullanmak ve bilimsel sonuçların ürüne dönüşmesini hızlandırmak.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Not: Kurumsal tarihçede TAEK, BOREN ve NADEN gibi yapıların önceki birikimi önemlidir; TENMAK'ın 2020'deki kuruluşu 57 sayılı Cumhurbaşkanlığı Kararnamesiyle ilişkilidir.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03 • KURUMSAL 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Kurucusu, kuruluş dayanağı ve bağlı olduğu bakanlık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TENMAK tek bir kişinin kurduğu özel şirket değil, mevzuatla oluşturulmuş bir kamu kurumudur.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971800" cy="31546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49908" y="3097072"/>
            <a:ext cx="329184" cy="731520"/>
          </a:xfrm>
          <a:prstGeom prst="rect">
            <a:avLst/>
          </a:prstGeom>
          <a:solidFill>
            <a:srgbClr val="122A48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9052" y="3550615"/>
            <a:ext cx="310896" cy="204825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4188" y="3042208"/>
            <a:ext cx="420624" cy="73152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4268" y="2937052"/>
            <a:ext cx="329184" cy="1051560"/>
          </a:xfrm>
          <a:prstGeom prst="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53412" y="3589020"/>
            <a:ext cx="310896" cy="294436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8548" y="2882188"/>
            <a:ext cx="420624" cy="73152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8627" y="3165652"/>
            <a:ext cx="329184" cy="594360"/>
          </a:xfrm>
          <a:prstGeom prst="rect">
            <a:avLst/>
          </a:prstGeom>
          <a:solidFill>
            <a:srgbClr val="122A48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7772" y="3534156"/>
            <a:ext cx="310896" cy="1664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2908" y="3110788"/>
            <a:ext cx="420624" cy="73152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27448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Kamu kurumu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1965960"/>
            <a:ext cx="3291840" cy="14173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965960"/>
            <a:ext cx="64008" cy="141732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11226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Kuruluş dayanağı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532888"/>
            <a:ext cx="294436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28 Mart 2020 tarihli ve 31082 sayılı Resmî Gazete'de yayımlanan 57 sayılı Cumhurbaşkanlığı Kararnamesi.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965960"/>
            <a:ext cx="3474720" cy="14173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1965960"/>
            <a:ext cx="64008" cy="14173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2112264"/>
            <a:ext cx="31546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Bağlı olduğu bakanlık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59" y="2532888"/>
            <a:ext cx="312724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T.C. Enerji ve Tabii Kaynaklar Bakanlığı ile ilişkili olarak çalışır.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703320"/>
            <a:ext cx="7040880" cy="14173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3703320"/>
            <a:ext cx="64008" cy="141732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849624"/>
            <a:ext cx="6720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Kurucular konusu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270248"/>
            <a:ext cx="6693408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Kurum, bireysel bir kurucudan ziyade devletin hukuki düzenlemesiyle kurulmuştur. Bu nedenle sunumda tek bir kişiyi “kurucu” olarak göstermek doğru değildir.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04 • YÖNELIM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Misyon ve vizyon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Araştırmayı ülkenin teknolojik kapasitesine ve toplumsal yarara dönüştürmek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120640" cy="228600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64008" cy="228600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48006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MİSYON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4773168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Enerji, nükleer ve maden teknolojileri alanlarında Türkiye'nin ihtiyaç duyduğu araştırma, yenilik ve teknoloji geliştirme çalışmalarını yürütmek; katma değer oluşturmak.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120640" cy="228600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64008" cy="228600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57984"/>
            <a:ext cx="48006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VİZYON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78608"/>
            <a:ext cx="4773168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Bu alanlarda bilimsel ve teknolojik yetkinliği artırmak; güvenilir, yenilikçi ve küresel ölçekte rekabet edebilir çözümler geliştiren öncü bir kurum olmak.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4DCFE1"/>
                </a:solidFill>
                <a:latin typeface="Aptos"/>
              </a:defRPr>
            </a:pPr>
            <a:r>
              <a:t>Misyon = bugün hangi amaçla çalışıyoruz?  |  Vizyon = gelecekte ulaşmak istediğimiz yer neresi?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05 • TÜRKIYE IÇIN ÖNEMI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Temel amaçlar ve ülkeye katkı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Bilimsel bilgi, üretim kabiliyeti ve güvenli teknoloji kullanımını birlikte geliştirmek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166360" cy="1353312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353312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Araştırma ve geliştirme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481888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Yeni malzeme, süreç ve enerji teknolojileri geliştirmek.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166360" cy="1353312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64008" cy="1353312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Yerli teknoloji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41448"/>
            <a:ext cx="481888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Dışa bağımlılığı azaltabilecek yerli bilgi ve ürün kapasitesini büyütmek.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66160"/>
            <a:ext cx="5166360" cy="1353312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566160"/>
            <a:ext cx="64008" cy="1353312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12463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4DCFE1"/>
                </a:solidFill>
                <a:latin typeface="Aptos"/>
              </a:defRPr>
            </a:pPr>
            <a:r>
              <a:t>Güvenlik ve kalite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33087"/>
            <a:ext cx="481888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Radyasyon ve nükleer uygulamalarda ölçüm, eğitim ve güvenlik kültürünü desteklemek.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566160"/>
            <a:ext cx="5166360" cy="1353312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566160"/>
            <a:ext cx="64008" cy="1353312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12463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İş birliği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33087"/>
            <a:ext cx="4818888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Üniversite, kamu ve sanayiyi ortak projelerde buluşturmak.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5440680"/>
            <a:ext cx="1828800" cy="73152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65208" y="5689396"/>
            <a:ext cx="1060704" cy="175564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 rot="3300000">
            <a:off x="9665208" y="5689396"/>
            <a:ext cx="1060704" cy="175564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 rot="6900000">
            <a:off x="9665208" y="5689396"/>
            <a:ext cx="1060704" cy="175564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85832" y="5667451"/>
            <a:ext cx="219456" cy="219456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2308" y="5223967"/>
            <a:ext cx="100584" cy="100584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22508" y="6202375"/>
            <a:ext cx="100584" cy="10058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22508" y="5287975"/>
            <a:ext cx="100584" cy="100584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5733288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06 • ARAŞTIRMA ENSTITÜLERI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Enerji Araştırma Enstitüsü (EAE)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Enerji üretimi, iletimi, dağıtımı ve depolanmasında yerli teknolojiler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00400" cy="342900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n 8"/>
          <p:cNvSpPr/>
          <p:nvPr/>
        </p:nvSpPr>
        <p:spPr>
          <a:xfrm>
            <a:off x="2075688" y="2994660"/>
            <a:ext cx="694944" cy="694944"/>
          </a:xfrm>
          <a:prstGeom prst="sun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817620"/>
            <a:ext cx="2103120" cy="777240"/>
          </a:xfrm>
          <a:prstGeom prst="rect">
            <a:avLst/>
          </a:prstGeom>
          <a:solidFill>
            <a:srgbClr val="00AAA0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380" y="3817620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3817620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8939" y="3817620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183380"/>
            <a:ext cx="2103120" cy="2286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7"/>
            <a:ext cx="2834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Enerji sistemleri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57400"/>
            <a:ext cx="6675120" cy="292608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Elektrik ve enerji sistemlerinde kullanılan teknolojilerin geliştirilmesine yönelik Ar-Ge yürütür.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Yerli ürün ve sistemlerin tasarımını ve performansının iyileştirilmesini destekler.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Enerji verimliliği, güvenilirlik ve enerji depolama gibi başlıklara katkı sunabilir.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Kamu, üniversite ve sanayi arasında iş birliğini teşvik eder.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257800"/>
            <a:ext cx="6492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2B543"/>
                </a:solidFill>
                <a:latin typeface="Aptos"/>
              </a:defRPr>
            </a:pPr>
            <a:r>
              <a:t>Fizik bağlantısı: enerji dönüşümü, elektrik akımı, güç, ısı ve verim kavramları.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07 • ARAŞTIRMA ENSTITÜLERI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Nükleer Enerji Araştırma Enstitüsü (NÜKEN)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Nükleer teknoloji, iyonlaştırıcı radyasyon ve parçacık hızlandırıcıları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4645" y="311627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3300000">
            <a:off x="1504645" y="311627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6900000">
            <a:off x="1504645" y="311627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6291" y="3412540"/>
            <a:ext cx="219456" cy="219456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72768" y="2969056"/>
            <a:ext cx="100584" cy="100584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2968" y="3947464"/>
            <a:ext cx="100584" cy="10058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72968" y="3033064"/>
            <a:ext cx="100584" cy="100584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10327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Atom çekirdeği ve radyasyon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920240"/>
            <a:ext cx="30632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920240"/>
            <a:ext cx="64008" cy="132588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06654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Nükleer araştırmalar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487168"/>
            <a:ext cx="27157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Radyasyonun ölçülmesi, nükleer tekniklerin geliştirilmesi ve teknoloji uygulamaları.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920240"/>
            <a:ext cx="333756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920240"/>
            <a:ext cx="64008" cy="132588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2066544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Hızlandırıcılar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487168"/>
            <a:ext cx="299008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Yüklü parçacıklar elektrik alanlarıyla hızlandırılır; araştırma ve bazı sağlık uygulamalarında kullanılabilir.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66160"/>
            <a:ext cx="67208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566160"/>
            <a:ext cx="64008" cy="132588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12463"/>
            <a:ext cx="6400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Güvenlik ve insan kaynağı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33087"/>
            <a:ext cx="6373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Eğitim, test, yerlileştirme, danışmanlık ve uluslararası standartlara uygun hizmetler enstitünün görevleri arasındadır.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257800"/>
            <a:ext cx="6583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94ABC2"/>
                </a:solidFill>
                <a:latin typeface="Aptos"/>
              </a:defRPr>
            </a:pPr>
            <a:r>
              <a:t>Önemli ayrım: NÜKEN araştırma ve teknoloji geliştirme yapar; nükleer tesislerin düzenleyici denetimi ayrı yetkili kurumların sorumluluğundadır.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08 • ARAŞTIRMA ENSTITÜLERI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Bor Araştırma Enstitüsü (BOREN)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Bor mineralini daha yüksek katma değerli ürünlere dönüştürmek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46020" y="2563063"/>
            <a:ext cx="584301" cy="811987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70632" y="3375050"/>
            <a:ext cx="259689" cy="1014984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24024" y="4390034"/>
            <a:ext cx="746608" cy="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796795" y="3375050"/>
            <a:ext cx="227229" cy="1014984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96795" y="2563063"/>
            <a:ext cx="649225" cy="811987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2281427" y="3311956"/>
            <a:ext cx="329184" cy="329184"/>
          </a:xfrm>
          <a:prstGeom prst="diamond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6460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Bor ve malzeme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6766560" cy="347472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Bor ürünleri ve bor temelli teknolojiler üzerine araştırmaları yürütür veya destekler.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Üniversite, kamu ve özel sektör arasında ortak çalışmaların geliştirilmesine katkı sağlar.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Bor bileşikleri cam, seramik, deterjan, metalürji ve bazı ileri malzeme uygulamalarında kullanılır.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Türkiye'nin bor kaynaklarının yalnızca ham madde olarak değil, işlenmiş ürün olarak değerlendirilmesini hedefler.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532120"/>
            <a:ext cx="6537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2B543"/>
                </a:solidFill>
                <a:latin typeface="Aptos"/>
              </a:defRPr>
            </a:pPr>
            <a:r>
              <a:t>Proje örneği olarak araştırılabilecek alanlar: bor karbür, bor katkılı malzemeler, enerji depolama ve bor kimyasalları. Her alanın olgunluk düzeyi aynı değildir.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08 • BORUN STRATEJIK ROLÜ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Türkiye'de bor madeni: kaynaktan ürüne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Rezerv sahibi olmak önemlidir; teknoloji ve işleme bilgisi ekonomik değeri artırır.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377440" cy="1920240"/>
          </a:xfrm>
          <a:prstGeom prst="roundRect">
            <a:avLst/>
          </a:prstGeom>
          <a:solidFill>
            <a:srgbClr val="18304D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4DCFE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Cevher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Bor içeren mineralin çıkarılması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06324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00AA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377440"/>
            <a:ext cx="2377440" cy="1920240"/>
          </a:xfrm>
          <a:prstGeom prst="roundRect">
            <a:avLst/>
          </a:prstGeom>
          <a:solidFill>
            <a:srgbClr val="18304D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54203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4DCFE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63240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Zenginleştirme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9300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İstenen mineralin ayrılması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06324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00AA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77440"/>
            <a:ext cx="2377440" cy="1920240"/>
          </a:xfrm>
          <a:prstGeom prst="roundRect">
            <a:avLst/>
          </a:prstGeom>
          <a:solidFill>
            <a:srgbClr val="18304D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4203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4DCFE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Kimyasal işlem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9300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Bor bileşiklerinin üretilmesi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6324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00AA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377440"/>
            <a:ext cx="2377440" cy="1920240"/>
          </a:xfrm>
          <a:prstGeom prst="roundRect">
            <a:avLst/>
          </a:prstGeom>
          <a:solidFill>
            <a:srgbClr val="18304D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542032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F2B54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063240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İleri ürün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493008"/>
            <a:ext cx="2057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Özel cam, seramik ve kompozit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00600"/>
            <a:ext cx="10241280" cy="96012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800600"/>
            <a:ext cx="64008" cy="9601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46904"/>
            <a:ext cx="99212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Fizik ve mühendislik bağlantısı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67528"/>
            <a:ext cx="989380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Malzemenin sertliği, ısıya dayanımı, elektriksel özellikleri ve mikro yapısı; hangi üründe kullanılacağını belirleyen etkenlerdendir.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09 • ARAŞTIRMA ENSTITÜLERI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Nadir Toprak Elementleri Araştırma Enstitüsü (NADEN / NATEN)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Nadir toprak elementleri, yüksek teknoloji ürünlerinde kritik ham maddelerdir.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42900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46020" y="2571750"/>
            <a:ext cx="584301" cy="82296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70632" y="3394710"/>
            <a:ext cx="259689" cy="102870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24024" y="4423410"/>
            <a:ext cx="746608" cy="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796795" y="3394710"/>
            <a:ext cx="227229" cy="102870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96795" y="2571750"/>
            <a:ext cx="649225" cy="82296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2281427" y="3332988"/>
            <a:ext cx="329184" cy="329184"/>
          </a:xfrm>
          <a:prstGeom prst="diamond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7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Kristal yapı ve elementler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65960"/>
            <a:ext cx="6766560" cy="338328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Nadir toprak elementlerinin ayrıştırılması, saflaştırılması ve ileri ürünlere dönüştürülmesi üzerine Ar-Ge kapasitesini destekler.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Kalıcı mıknatıslar, rüzgâr türbinleri, elektrikli araç motorları, elektronik ve bazı savunma teknolojilerinde önemli olabilirler.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“Nadir” sözcüğü her zaman yerkabuğunda çok az bulundukları anlamına gelmez; ekonomik olarak ayırmak zor olabilir.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Türkiye için hedef, kaynakları bilimsel bilgi ve yüksek katma değerli üretimle buluşturmaktır.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486400"/>
            <a:ext cx="6492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Güncel resmî kullanımda kurum adı sayfalarda “Nadir Toprak Elementleri Araştırma Enstitüsü” ve kısaltma olarak NATEN biçiminde de geçmektedir.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10 • ARAŞTIRMA ENSTITÜLERI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Temiz Enerji Araştırma Enstitüsü (TEMEN)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Düşük emisyonlu enerji teknolojileri ve sürdürülebilir çözümler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n 8"/>
          <p:cNvSpPr/>
          <p:nvPr/>
        </p:nvSpPr>
        <p:spPr>
          <a:xfrm>
            <a:off x="2098548" y="3019348"/>
            <a:ext cx="694944" cy="694944"/>
          </a:xfrm>
          <a:prstGeom prst="sun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94460" y="3842308"/>
            <a:ext cx="2103120" cy="777240"/>
          </a:xfrm>
          <a:prstGeom prst="rect">
            <a:avLst/>
          </a:prstGeom>
          <a:solidFill>
            <a:srgbClr val="00AAA0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39" y="3842308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6020" y="3842308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3842308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94460" y="4208068"/>
            <a:ext cx="2103120" cy="2286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7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Güneş ve temiz enerji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965960"/>
            <a:ext cx="30632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965960"/>
            <a:ext cx="64008" cy="132588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11226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Hidrojen teknolojileri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32888"/>
            <a:ext cx="27157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Hidrojenin üretimi, depolanması ve kullanımına yönelik araştırma alanları.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65960"/>
            <a:ext cx="333756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965960"/>
            <a:ext cx="64008" cy="132588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112264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Yenilenebilir enerji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32888"/>
            <a:ext cx="299008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Güneş ve diğer temiz enerji seçeneklerinin verimli kullanılmasına yönelik araştırmalar.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11880"/>
            <a:ext cx="67208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611880"/>
            <a:ext cx="64008" cy="132588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758184"/>
            <a:ext cx="6400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Sistem yaklaşımı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178808"/>
            <a:ext cx="6373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Temiz enerji yalnızca enerji kaynağı değildir; dönüşüm verimi, depolama, malzeme dayanımı ve güvenli kullanım da önemlidir.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03520"/>
            <a:ext cx="6492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4DCFE1"/>
                </a:solidFill>
                <a:latin typeface="Aptos"/>
              </a:defRPr>
            </a:pPr>
            <a:r>
              <a:t>Fizik bağlantısı: enerji korunumu, fotovoltaik etki, elektrik devreleri, ısı transferi ve verim.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11 • FIZIK BAĞLANTISI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TENMAK ve fizik bilimi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Fizik; maddeyi, enerjiyi, kuvvetleri ve bunların etkileşimlerini inceler.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16636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15087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Nükleer fizik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481888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Atom çekirdeği, radyoaktivite ve nükleer tepkimeler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16636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64008" cy="15087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Parçacık fiziği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41448"/>
            <a:ext cx="481888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Maddenin temel bileşenleri ve hızlandırıcılar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516636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79"/>
            <a:ext cx="64008" cy="1508760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3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4DCFE1"/>
                </a:solidFill>
                <a:latin typeface="Aptos"/>
              </a:defRPr>
            </a:pPr>
            <a:r>
              <a:t>Katıhal fiziği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7"/>
            <a:ext cx="481888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Kristaller, yarı iletkenler ve malzeme özellikleri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40479"/>
            <a:ext cx="516636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40479"/>
            <a:ext cx="64008" cy="15087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86783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Enerji fiziği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07407"/>
            <a:ext cx="481888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Elektrik, ısı, ışınım ve enerji dönüşümleri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FDCEB"/>
                </a:solidFill>
                <a:latin typeface="Aptos"/>
              </a:defRPr>
            </a:pPr>
            <a:r>
              <a:t>Bir araştırma problemi çoğu zaman tek bir fizik alanıyla sınırlı değildir; ölçüm, kimya, malzeme ve mühendislik birlikte çalışır.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11 • FIZIK BAĞLANTISI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Nükleer fizik ve parçacık fiziği uygulamaları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Çekirdekteki değişimler ve hızlandırılmış parçacıklar, araştırma ve teknoloji için araçtır.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4645" y="307055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3300000">
            <a:off x="1504645" y="307055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6900000">
            <a:off x="1504645" y="3070555"/>
            <a:ext cx="1882749" cy="811987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6291" y="3366820"/>
            <a:ext cx="219456" cy="219456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72768" y="2923336"/>
            <a:ext cx="100584" cy="100584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72968" y="3901744"/>
            <a:ext cx="100584" cy="10058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72968" y="2987344"/>
            <a:ext cx="100584" cy="100584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6460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Atom çekirdeği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6675120" cy="356616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Radyoaktif bozunmada kararsız çekirdekler parçacık veya enerji yayabilir.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İyonlaştırıcı radyasyon maddeyle etkileşirken atomlardan elektron koparabilir.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Parçacık hızlandırıcıları, yüklü parçacıkları elektrik alanıyla hızlandırır; manyetik alanlar demetleri yönlendirebilir.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Dedektörler, parçacıkların veya radyasyonun varlığını ve özelliklerini ölçmeye yardımcı olur.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623560"/>
            <a:ext cx="6492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2B543"/>
                </a:solidFill>
                <a:latin typeface="Aptos"/>
              </a:defRPr>
            </a:pPr>
            <a:r>
              <a:t>9. sınıf bağlantısı: elektrik yükü, kuvvet, enerji aktarımı ve ölçüm. İleri düzey ayrıntılar üst sınıflarda öğrenilir.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12 • FIZIK BAĞLANTISI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Katıhal fiziği ve malzeme bilimi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Bir malzemenin atomik yapısı, günlük hayattaki performansını belirler.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446020" y="2563063"/>
            <a:ext cx="584301" cy="811987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70632" y="3375050"/>
            <a:ext cx="259689" cy="1014984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024024" y="4390034"/>
            <a:ext cx="746608" cy="0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796795" y="3375050"/>
            <a:ext cx="227229" cy="1014984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96795" y="2563063"/>
            <a:ext cx="649225" cy="811987"/>
          </a:xfrm>
          <a:prstGeom prst="line">
            <a:avLst/>
          </a:prstGeom>
          <a:ln w="25400">
            <a:solidFill>
              <a:srgbClr val="4D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2281427" y="3311956"/>
            <a:ext cx="329184" cy="329184"/>
          </a:xfrm>
          <a:prstGeom prst="diamond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6460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Kristal düzen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920240"/>
            <a:ext cx="30632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920240"/>
            <a:ext cx="64008" cy="12801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6654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Yarı iletkenler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87168"/>
            <a:ext cx="27157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Güneş hücreleri ve elektronik devrelerde elektrik iletiminin kontrolünü sağlar.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20240"/>
            <a:ext cx="333756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920240"/>
            <a:ext cx="64008" cy="12801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066544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Manyetik malzemeler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487168"/>
            <a:ext cx="299008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Motorlar, jeneratörler ve bazı sensörlerde manyetik özelliklerden yararlanılır.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40"/>
            <a:ext cx="67208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520440"/>
            <a:ext cx="64008" cy="12801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666744"/>
            <a:ext cx="6400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Dayanıklı ve işlevsel malzemeler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87368"/>
            <a:ext cx="63733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Bor bileşikleri, özel alaşımlar ve seramikler; sertlik, sıcaklık dayanımı veya kimyasal kararlılık gibi özellikler için araştırılır.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212080"/>
            <a:ext cx="6537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4DCFE1"/>
                </a:solidFill>
                <a:latin typeface="Aptos"/>
              </a:defRPr>
            </a:pPr>
            <a:r>
              <a:t>Örnek: güneş panelinde yarı iletken, elektrik motorunda mıknatıs, yüksek sıcaklık uygulamasında ısıya dayanıklı malzeme kullanılır.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13 • RADYASYON GÜVENLIĞI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Nükleer teknoloji ve radyasyon güvenliği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Radyasyonun yararı, doğru ölçüm ve uygun korunma ilkeleriyle birlikte düşünülmelidir.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5087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Süreyi azalt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Kaynağa yakın geçirilen süreyi mümkün olduğunca kısa tutmak, alınan dozu azaltmaya yardımcı olur.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64008" cy="15087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Mesafeyi artır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Kaynakla aradaki mesafe arttıkça, birçok durumda maruz kalınan ışınım azalır.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15087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Zırhlama kullan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Uygun malzeme ve kalınlık, radyasyon türüne göre seçilerek korunma sağlar.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2971800" cy="150876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1348" y="4123029"/>
            <a:ext cx="329184" cy="731520"/>
          </a:xfrm>
          <a:prstGeom prst="rect">
            <a:avLst/>
          </a:prstGeom>
          <a:solidFill>
            <a:srgbClr val="122A48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50492" y="4576572"/>
            <a:ext cx="310896" cy="204825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95628" y="4068165"/>
            <a:ext cx="420624" cy="73152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35708" y="3963009"/>
            <a:ext cx="329184" cy="1051560"/>
          </a:xfrm>
          <a:prstGeom prst="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4852" y="4614976"/>
            <a:ext cx="310896" cy="294436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89988" y="3908145"/>
            <a:ext cx="420624" cy="73152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0068" y="4191609"/>
            <a:ext cx="329184" cy="594360"/>
          </a:xfrm>
          <a:prstGeom prst="rect">
            <a:avLst/>
          </a:prstGeom>
          <a:solidFill>
            <a:srgbClr val="122A48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9212" y="4560112"/>
            <a:ext cx="310896" cy="1664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4348" y="4136745"/>
            <a:ext cx="420624" cy="73152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64608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Ölçüm ve dozimetre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977639"/>
            <a:ext cx="66751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Güvenlik; kişisel koruyucu önlemler, kontrollü alanlar, eğitim, kalibrasyonlu ölçüm cihazları ve mevzuata uyumdan oluşur.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30352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94ABC2"/>
                </a:solidFill>
                <a:latin typeface="Aptos"/>
              </a:defRPr>
            </a:pPr>
            <a:r>
              <a:t>Not: Radyasyonun türüne göre korunma yöntemi değişir; her radyasyona aynı malzeme aynı ölçüde engel olmaz.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14 • SAĞLIK VE RADYASYON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Kanser tedavisi ve parçacık hızlandırıcıları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Radyasyon, uygun planlama ve uzman gözetimi altında hastalıkların tanı ve tedavisinde kullanılabilir.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851660" y="2927908"/>
            <a:ext cx="1188720" cy="1188720"/>
          </a:xfrm>
          <a:prstGeom prst="arc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51660" y="3430828"/>
            <a:ext cx="320040" cy="548640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20339" y="3430828"/>
            <a:ext cx="320040" cy="54864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6460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Hızlandırıcı fikri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6675120" cy="338328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Radyoterapide yüksek enerjili ışınım, tümör hücrelerinin çoğalmasını engellemek amacıyla kullanılır.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Proton tedavisi, protonların belirli derinlikte enerji bırakma özelliklerinden yararlanabilir.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Parçacık hızlandırıcıları bazı tıbbi izotopların ve araştırma amaçlı ışınların üretilmesinde kullanılabilir.</a:t>
            </a:r>
          </a:p>
          <a:p>
            <a:pPr>
              <a:spcAft>
                <a:spcPts val="9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Bu sistemler pahalı ve karmaşıktır; hasta seçimi, doz planı ve kalite güvencesi uzman ekiplerce yürütülür.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486400"/>
            <a:ext cx="6400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FF7867"/>
                </a:solidFill>
                <a:latin typeface="Aptos"/>
              </a:defRPr>
            </a:pPr>
            <a:r>
              <a:t>Dikkat: TENMAK'ın araştırma ve hızlandırıcı altyapısı hakkındaki bilgi, her proton tedavisinin TENMAK'ta yapıldığı anlamına gelmez.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15 • UYGULAMA ALANLARI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Tarım ve sanayide nükleer teknikler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Radyasyon ve izotoplar, kontrollü koşullarda ölçüm ve işlem amaçlarıyla kullanılabilir.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07492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5087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4754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Tarım ve gıda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472744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Işınlama, uygun koşullarda gıdalardaki bazı mikroorganizmaları azaltabilir; izotop teknikleri bitki besinlerinin hareketini araştırmaya yardımcı olabilir.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07492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64008" cy="15087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4754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Sanayi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41448"/>
            <a:ext cx="472744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Radyografik muayene, malzemenin içindeki bazı kusurları parçayı kesmeden incelemeye yardımcı olur; kalınlık ve yoğunluk ölçümleri de yapılabilir.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94760"/>
            <a:ext cx="2971800" cy="15544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1348" y="4144060"/>
            <a:ext cx="329184" cy="731520"/>
          </a:xfrm>
          <a:prstGeom prst="rect">
            <a:avLst/>
          </a:prstGeom>
          <a:solidFill>
            <a:srgbClr val="122A48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50492" y="4597603"/>
            <a:ext cx="310896" cy="204825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95628" y="4089196"/>
            <a:ext cx="420624" cy="73152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5708" y="3984040"/>
            <a:ext cx="329184" cy="1051560"/>
          </a:xfrm>
          <a:prstGeom prst="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44852" y="4636008"/>
            <a:ext cx="310896" cy="294436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89988" y="3929176"/>
            <a:ext cx="420624" cy="73152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0068" y="4212640"/>
            <a:ext cx="329184" cy="594360"/>
          </a:xfrm>
          <a:prstGeom prst="rect">
            <a:avLst/>
          </a:prstGeom>
          <a:solidFill>
            <a:srgbClr val="122A48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9212" y="4581144"/>
            <a:ext cx="310896" cy="1664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84348" y="4157776"/>
            <a:ext cx="420624" cy="73152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10328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Ölçüm teknolojisi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77639"/>
            <a:ext cx="6629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Örnek: kaynak dikişindeki çatlakların belirlenmesi, üretim hattında kâğıt veya metal levha kalınlığının ölçülmesi, gıdada raf ömrünü etkileyen süreçlerin incelenmesi.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03520"/>
            <a:ext cx="6492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94ABC2"/>
                </a:solidFill>
                <a:latin typeface="Aptos"/>
              </a:defRPr>
            </a:pPr>
            <a:r>
              <a:t>Bu teknikler, uygun lisanslama, güvenlik prosedürleri ve uzman personel gerektirir.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16 • ALTYAPI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Laboratuvarlar ve teknolojik altyapı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Araştırma için cihaz kadar ölçüm kalitesi, kalibrasyon ve güvenli çalışma düzeni de önemlidir.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8328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7068" y="3110788"/>
            <a:ext cx="329184" cy="731520"/>
          </a:xfrm>
          <a:prstGeom prst="rect">
            <a:avLst/>
          </a:prstGeom>
          <a:solidFill>
            <a:srgbClr val="122A48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6212" y="3564331"/>
            <a:ext cx="310896" cy="204825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1348" y="3055924"/>
            <a:ext cx="420624" cy="73152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1427" y="2950768"/>
            <a:ext cx="329184" cy="1051560"/>
          </a:xfrm>
          <a:prstGeom prst="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0572" y="3602736"/>
            <a:ext cx="310896" cy="294436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35708" y="2895904"/>
            <a:ext cx="420624" cy="73152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5787" y="3179368"/>
            <a:ext cx="329184" cy="594360"/>
          </a:xfrm>
          <a:prstGeom prst="rect">
            <a:avLst/>
          </a:prstGeom>
          <a:solidFill>
            <a:srgbClr val="122A48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4932" y="3547872"/>
            <a:ext cx="310896" cy="16642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0068" y="3124504"/>
            <a:ext cx="420624" cy="73152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6460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Laboratuvar ortamı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965960"/>
            <a:ext cx="30632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965960"/>
            <a:ext cx="64008" cy="12801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11226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Radyasyon ölçümü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532888"/>
            <a:ext cx="27157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Radyasyon türü ve düzeyini belirleyen cihazlar.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965960"/>
            <a:ext cx="30632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1965960"/>
            <a:ext cx="64008" cy="12801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211226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Malzeme analizi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532888"/>
            <a:ext cx="27157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Numunenin bileşimini ve fiziksel özelliklerini inceleme.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520439"/>
            <a:ext cx="30632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520439"/>
            <a:ext cx="64008" cy="1280160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66674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4DCFE1"/>
                </a:solidFill>
                <a:latin typeface="Aptos"/>
              </a:defRPr>
            </a:pPr>
            <a:r>
              <a:t>Hızlandırıcı altyapısı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087368"/>
            <a:ext cx="27157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Parçacık demeti ve ilgili deneysel çalışmalar.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520439"/>
            <a:ext cx="306324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3520439"/>
            <a:ext cx="64008" cy="12801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66674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Enerji testleri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4087368"/>
            <a:ext cx="271576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Bileşenlerin verim, dayanım ve performansını ölçme.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303520"/>
            <a:ext cx="6400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Laboratuvarların cihaz listeleri ve yetkinlikleri zamanla güncellenebilir. Projede kesin cihaz adı verilecekse kurumun güncel resmî sayfasından doğrulanmalıdır.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17 • PROJELER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Devam eden çalışmalar ve gelecek hedefleri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Araştırma gündemi değişir; aşağıdaki başlıklar TENMAK'ın alanlarıyla uyumlu güncel çalışma yönlerini örnekler.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01952"/>
            <a:ext cx="292608" cy="292608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Temiz enerji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2880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Hidrojen, yenilenebilir enerji ve enerji depolama çözümleri.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06624"/>
            <a:ext cx="292608" cy="292608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633472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Bor teknolojileri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33472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Bor bileşiklerinin ileri malzeme ve endüstriyel ürünlere dönüştürülmesi.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511296"/>
            <a:ext cx="292608" cy="292608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438144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Nadir toprak elementleri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38144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Ayrıştırma, saflaştırma ve stratejik malzeme geliştirme.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292608" cy="292608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242816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Nükleer uygulamalar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42816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Radyasyon teknolojileri, ölçüm, hızlandırıcılar ve güvenlik.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120640"/>
            <a:ext cx="292608" cy="292608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04748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Tarım + enerji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047488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Agrivoltaik sistemlerde güneş enerjisi ile tarımsal üretimi birlikte inceleyen araştırmalar.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94ABC2"/>
                </a:solidFill>
                <a:latin typeface="Aptos"/>
              </a:defRPr>
            </a:pPr>
            <a:r>
              <a:t>Örnek güncel başlık: 2026'da TENMAK, NÜKEN ve TEMEN'in ODTÜ-GÜNAM iş birliğinde agrivoltaik sistemler ve bitki performansı üzerine proje duyurusu yayımlamıştır.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18 • EĞITIM VE KARIYER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Genç araştırmacılar ve öğrenciler için fırsatlar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Bilim insanlığı; merak, matematik, deney, ekip çalışması ve sürekli öğrenmeyle gelişir.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5087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Staj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Ulusal Staj Programı duyurularını ve TENMAK'ın güncel başvuru koşullarını takip etmek gerekir.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64008" cy="15087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Burs ve destek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Burslar dönemsel çağrılarla açılabilir; eğitim düzeyi ve bölüm şartları her çağrıda kontrol edilmelidir.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291840" cy="15087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74519"/>
            <a:ext cx="64008" cy="15087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0824"/>
            <a:ext cx="2971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Kariyer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41448"/>
            <a:ext cx="2944368" cy="8229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Fizik, nükleer enerji, kimya, malzeme bilimi, elektrik-elektronik ve mühendislik alanları ilgili olabilir.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5486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4DCFE1"/>
                </a:solidFill>
                <a:latin typeface="Aptos"/>
              </a:defRPr>
            </a:pPr>
            <a:r>
              <a:t>9. sınıf öğrencisi bugün ne yapabilir?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10241280" cy="146304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Fizik ve matematikte temel kavramları sağlam öğrenmek.</a:t>
            </a:r>
          </a:p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Bilim fuarı, TÜBİTAK veya TEKNOFEST projelerinde araştırma sorusu geliştirmek.</a:t>
            </a:r>
          </a:p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Resmî TENMAK duyurularını öğretmen veya veliyle birlikte takip etmek.</a:t>
            </a:r>
          </a:p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Laboratuvar güvenliği, bilimsel rapor yazımı ve veri yorumlama becerilerini geliştirmek.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Staj ve burs koşulları yaşa, eğitim seviyesine ve yılın çağrısına göre değişebilir; lise öğrencilerine her fırsatın açık olduğu varsayılmamalıdır.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19 • ULUSLARARASI ILIŞKILER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Uluslararası iş birlikleri: IAEA, CERN ve diğer ağlar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Bilim, büyük araştırma altyapıları ve ortak standartlar üzerinden uluslararası ölçekte gelişir.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182880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64008" cy="182880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66544"/>
            <a:ext cx="29260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IAEA / UAEA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289864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Uluslararası Atom Enerjisi Ajansı; nükleer teknolojinin barışçıl kullanımı, güvenlik ve teknik iş birliği alanlarında uluslararası rol oynar.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246120" cy="182880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20240"/>
            <a:ext cx="64008" cy="182880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66544"/>
            <a:ext cx="29260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CERN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87168"/>
            <a:ext cx="289864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Parçacık fiziği araştırmalarının yürütüldüğü büyük uluslararası laboratuvar. TENMAK'ın CERN öğrenci kariyer programlarına katılımı teşvik eden usul ve esasları bulunur.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246120" cy="182880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64008" cy="182880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66544"/>
            <a:ext cx="29260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Üniversiteler ve araştırma ağları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87168"/>
            <a:ext cx="289864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Ortak projeler, eğitimler, teknik bilgi paylaşımı ve araştırmacı hareketliliği bilimsel kapasiteyi artırır.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149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Uluslararası iş birliği, yalnızca cihaz paylaşımı değildir: ortak eğitim, standartlar, uzmanlık, veri ve araştırma kültürünün paylaşılmasıdır.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Kaynak notu: TENMAK mevzuat sayfasında CERN Öğrenci Kariyer Programlarına ilişkin usul ve esaslar listelenmektedir.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20 • ENERJI BAĞIMSIZLIĞI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TENMAK Türkiye'nin enerji bağımsızlığına nasıl katkı sağlar?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Enerji bağımsızlığı yalnızca kaynak sahibi olmak değil, teknolojiyi geliştirebilmek ve verimli kullanabilmektir.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46120" cy="333756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n 8"/>
          <p:cNvSpPr/>
          <p:nvPr/>
        </p:nvSpPr>
        <p:spPr>
          <a:xfrm>
            <a:off x="2098548" y="2952597"/>
            <a:ext cx="694944" cy="694944"/>
          </a:xfrm>
          <a:prstGeom prst="sun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94460" y="3775557"/>
            <a:ext cx="2103120" cy="777240"/>
          </a:xfrm>
          <a:prstGeom prst="rect">
            <a:avLst/>
          </a:prstGeom>
          <a:solidFill>
            <a:srgbClr val="00AAA0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39" y="3775557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6020" y="3775557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3775557"/>
            <a:ext cx="22860" cy="77724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94460" y="4141317"/>
            <a:ext cx="2103120" cy="22860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18888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Enerji dönüşümü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920240"/>
            <a:ext cx="30632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920240"/>
            <a:ext cx="64008" cy="132588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66544"/>
            <a:ext cx="27432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Teknoloji kapasitesi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87168"/>
            <a:ext cx="27157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Yerli araştırma, tasarım ve üretim kabiliyetini artırmak.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20240"/>
            <a:ext cx="333756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920240"/>
            <a:ext cx="64008" cy="132588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066544"/>
            <a:ext cx="30175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Kaynakların değeri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487168"/>
            <a:ext cx="299008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Bor ve nadir toprak elementlerini daha ileri ürünlere dönüştürmek.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66160"/>
            <a:ext cx="6720840" cy="132588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566160"/>
            <a:ext cx="64008" cy="132588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712463"/>
            <a:ext cx="6400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Dengeli değerlendirme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133087"/>
            <a:ext cx="6373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Araştırma tek başına enerji ithalatını bitirmez; fakat teknoloji, verimlilik, insan kaynağı ve yerli üretim üzerinden uzun vadeli katkı sağlayabilir.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03520"/>
            <a:ext cx="6400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4DCFE1"/>
                </a:solidFill>
                <a:latin typeface="Aptos"/>
              </a:defRPr>
            </a:pPr>
            <a:r>
              <a:t>Sonuç: Bilimsel araştırma, enerji güvenliğini destekleyen uzun vadeli bir yatırımdır; başarı ölçütleri somut sonuçlar ve sürdürülebilir uygulamalardır.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21 • DEĞERLENDIRME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Özet ve genel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TENMAK'ın etkisi, farklı uzmanlık alanlarını ortak bir araştırma hedefinde birleştirmesinden gelir.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16636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280160"/>
          </a:xfrm>
          <a:prstGeom prst="rect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AAA0"/>
                </a:solidFill>
                <a:latin typeface="Aptos"/>
              </a:defRPr>
            </a:pPr>
            <a:r>
              <a:t>Çok alanlı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481888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Enerji, nükleer teknoloji ve stratejik madenler birlikte ele alınır.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16636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64008" cy="1280160"/>
          </a:xfrm>
          <a:prstGeom prst="rect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208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2B543"/>
                </a:solidFill>
                <a:latin typeface="Aptos"/>
              </a:defRPr>
            </a:pPr>
            <a:r>
              <a:t>Fizikle güçlü bağ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41448"/>
            <a:ext cx="481888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Enerji, radyasyon, elektrik, atom çekirdeği ve malzeme özellikleri temel kavramlardır.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74720"/>
            <a:ext cx="516636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474720"/>
            <a:ext cx="64008" cy="1280160"/>
          </a:xfrm>
          <a:prstGeom prst="rect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210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4DCFE1"/>
                </a:solidFill>
                <a:latin typeface="Aptos"/>
              </a:defRPr>
            </a:pPr>
            <a:r>
              <a:t>Toplumsal uygulama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41648"/>
            <a:ext cx="481888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Sağlık, sanayi, tarım ve çevresel sürdürülebilirlikle kesişen uygulamalar bulunur.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474720"/>
            <a:ext cx="5166360" cy="1280160"/>
          </a:xfrm>
          <a:prstGeom prst="roundRect">
            <a:avLst/>
          </a:prstGeom>
          <a:solidFill>
            <a:srgbClr val="18304D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474720"/>
            <a:ext cx="64008" cy="1280160"/>
          </a:xfrm>
          <a:prstGeom prst="rect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621024"/>
            <a:ext cx="48463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7867"/>
                </a:solidFill>
                <a:latin typeface="Aptos"/>
              </a:defRPr>
            </a:pPr>
            <a:r>
              <a:t>Geleceğe yatırım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4818888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Yerli teknoloji ve nitelikli insan kaynağı uzun vadeli kapasite oluşturur.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Ana fikir: TENMAK, bilimsel bilgiyi ülkenin enerji ve malzeme teknolojileri alanındaki ihtiyaçlarıyla buluşturmayı amaçlayan bir araştırma kurumudur.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49440" y="1188720"/>
            <a:ext cx="4023360" cy="4389120"/>
          </a:xfrm>
          <a:prstGeom prst="roundRect">
            <a:avLst/>
          </a:prstGeom>
          <a:solidFill>
            <a:srgbClr val="122A48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94345" y="2681020"/>
            <a:ext cx="2333548" cy="1053388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3300000">
            <a:off x="7794345" y="2681020"/>
            <a:ext cx="2333548" cy="1053388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6900000">
            <a:off x="7794345" y="2681020"/>
            <a:ext cx="2333548" cy="1053388"/>
          </a:xfrm>
          <a:prstGeom prst="ellipse">
            <a:avLst/>
          </a:prstGeom>
          <a:noFill/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1392" y="3097987"/>
            <a:ext cx="219456" cy="219456"/>
          </a:xfrm>
          <a:prstGeom prst="ellipse">
            <a:avLst/>
          </a:prstGeom>
          <a:solidFill>
            <a:srgbClr val="F2B543"/>
          </a:solidFill>
          <a:ln>
            <a:solidFill>
              <a:srgbClr val="F2B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87868" y="2654503"/>
            <a:ext cx="100584" cy="100584"/>
          </a:xfrm>
          <a:prstGeom prst="ellipse">
            <a:avLst/>
          </a:prstGeom>
          <a:solidFill>
            <a:srgbClr val="4DCFE1"/>
          </a:solidFill>
          <a:ln>
            <a:solidFill>
              <a:srgbClr val="4D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88068" y="3632911"/>
            <a:ext cx="100584" cy="100584"/>
          </a:xfrm>
          <a:prstGeom prst="ellipse">
            <a:avLst/>
          </a:prstGeom>
          <a:solidFill>
            <a:srgbClr val="00AAA0"/>
          </a:solidFill>
          <a:ln>
            <a:solidFill>
              <a:srgbClr val="00A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88068" y="2718511"/>
            <a:ext cx="100584" cy="100584"/>
          </a:xfrm>
          <a:prstGeom prst="ellipse">
            <a:avLst/>
          </a:prstGeom>
          <a:solidFill>
            <a:srgbClr val="FF7867"/>
          </a:solidFill>
          <a:ln>
            <a:solidFill>
              <a:srgbClr val="FF7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5138927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CFDCEB"/>
                </a:solidFill>
                <a:latin typeface="Aptos"/>
              </a:defRPr>
            </a:pPr>
            <a:r>
              <a:t>Merak et, sorgula, araştır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73152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00AAA0"/>
                </a:solidFill>
                <a:latin typeface="Aptos"/>
              </a:defRPr>
            </a:pPr>
            <a:r>
              <a:t>22 • SORU–CEVAP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55778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800" b="1">
                <a:solidFill>
                  <a:srgbClr val="F5F8FC"/>
                </a:solidFill>
                <a:latin typeface="Aptos"/>
              </a:defRPr>
            </a:pPr>
            <a:r>
              <a:t>Teşekkürler!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5394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4DCFE1"/>
                </a:solidFill>
                <a:latin typeface="Aptos"/>
              </a:defRPr>
            </a:pPr>
            <a:r>
              <a:t>Sorularınız var mı?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2B543"/>
                </a:solidFill>
                <a:latin typeface="Aptos"/>
              </a:defRPr>
            </a:pPr>
            <a:r>
              <a:t>Tartışma için düşünme soruları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5669280" cy="1554480"/>
          </a:xfrm>
          <a:prstGeom prst="rect">
            <a:avLst/>
          </a:prstGeom>
          <a:noFill/>
        </p:spPr>
        <p:txBody>
          <a:bodyPr wrap="square" lIns="36576" rIns="45720" tIns="27432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Fizik bilgisi enerji teknolojilerini nasıl geliştirir?</a:t>
            </a:r>
          </a:p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Bir madenin ham madde yerine ileri teknoloji ürünü olarak satılması neden önemlidir?</a:t>
            </a:r>
          </a:p>
          <a:p>
            <a:pPr>
              <a:spcAft>
                <a:spcPts val="9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 Radyasyonun yararları ve riskleri nasıl dengelenebilir?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AAA0"/>
                </a:solidFill>
                <a:latin typeface="Aptos"/>
              </a:defRPr>
            </a:pPr>
            <a:r>
              <a:t>23 • KAYNAKÇA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Kaynakça ve teşekkür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FDCEB"/>
                </a:solidFill>
                <a:latin typeface="Aptos"/>
              </a:defRPr>
            </a:pPr>
            <a:r>
              <a:t>Sunum hazırlanırken öncelikle TENMAK'ın resmî kurumsal sayfaları esas alınmıştır.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122A48"/>
          </a:solidFill>
          <a:ln>
            <a:solidFill>
              <a:srgbClr val="12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6858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94ABC2"/>
                </a:solidFill>
                <a:latin typeface="Aptos"/>
              </a:defRPr>
            </a:pPr>
            <a:r>
              <a:t>TENMAK • FİZİK PROJESİ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4DCFE1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1. TENMAK – Hakkımızda / tarihçe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https://tenmak.gov.tr/hakkimizda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1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2. Enerji Araştırma Enstitüsü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21991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https://tenmak.gov.tr/enerji-arastirma-enstitusu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60904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3. Nükleer Enerji Araştırma Enstitüsü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6090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https://www.tenmak.gov.tr/nukleer-enerji-arastirma-enstitusu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5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4. Bor Araştırma Enstitüsü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099815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https://www.tenmak.gov.tr/bor-arastirma-enstitusu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5. Nadir Toprak Elementleri Araştırma Enstitüsü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3872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https://tenmak.gov.tr/nadir-toprak-elementleri-arastirma-enstitusu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6. Temiz Enerji Araştırma Enstitüsü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39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https://tenmak.gov.tr/temiz-enerji-arastirma-enstitusu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16552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7. TENMAK – Eğitim ve sınav / staj duyuruları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41655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https://tenmak.gov.tr/egitim-ve-sinav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55464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8. TENMAK – Usul ve esaslar (CERN programları)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554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https://www.tenmak.gov.tr/usul-ve-esaslar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94376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t>9. TENMAK – Nükleer-Güneş iş birliği / agrivoltaik haber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29437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4DCFE1"/>
                </a:solidFill>
                <a:latin typeface="Aptos"/>
              </a:defRPr>
            </a:pPr>
            <a:r>
              <a:t>https://www.tenmak.gov.tr/haberler/nukleer-gunes-is-birligi-ile-enerji-ve-gida-guvenligi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332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94ABC2"/>
                </a:solidFill>
                <a:latin typeface="Aptos"/>
              </a:defRPr>
            </a:pPr>
            <a:r>
              <a:t>Erişim tarihi: 18 Ekim 2026. Kurum ve proje bilgileri zaman içinde güncellenebileceğinden, sunum yapılmadan önce resmî sayfalar yeniden kontrol edilmelidir.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617220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300" b="1">
                <a:solidFill>
                  <a:srgbClr val="F2B543"/>
                </a:solidFill>
                <a:latin typeface="Aptos"/>
              </a:defRPr>
            </a:pPr>
            <a: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TENMAK: Türkiye Enerji, Nükleer ve Maden Araştırma Kurumu</dc:title>
  <dc:subject>9. sınıf fizik dersi projesi</dc:subject>
  <dc:creator>OpenAI</dc:creator>
  <cp:keywords>TENMAK, fizik, enerji, nükleer, bor, temiz enerji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